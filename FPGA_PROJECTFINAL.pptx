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6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364"/>
    <p:restoredTop sz="94719"/>
  </p:normalViewPr>
  <p:slideViewPr>
    <p:cSldViewPr snapToGrid="0" snapToObjects="1">
      <p:cViewPr varScale="1">
        <p:scale>
          <a:sx n="150" d="100"/>
          <a:sy n="150" d="100"/>
        </p:scale>
        <p:origin x="1992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2.xml.rels><?xml version="1.0" encoding="UTF-8" standalone="yes"?>
<Relationships xmlns="http://schemas.openxmlformats.org/package/2006/relationships"><Relationship Id="rId1" Type="http://schemas.openxmlformats.org/officeDocument/2006/relationships/hyperlink" Target="https://youtu.be/TRIYTJ7-g6c" TargetMode="External"/></Relationships>
</file>

<file path=ppt/diagrams/_rels/drawing2.xml.rels><?xml version="1.0" encoding="UTF-8" standalone="yes"?>
<Relationships xmlns="http://schemas.openxmlformats.org/package/2006/relationships"><Relationship Id="rId1" Type="http://schemas.openxmlformats.org/officeDocument/2006/relationships/hyperlink" Target="https://youtu.be/TRIYTJ7-g6c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701B9BA-F3DF-430E-809F-B99AE377E84C}" type="doc">
      <dgm:prSet loTypeId="urn:microsoft.com/office/officeart/2008/layout/LinedList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4185D894-5318-EC48-A051-F5A1C6031914}">
      <dgm:prSet/>
      <dgm:spPr/>
      <dgm:t>
        <a:bodyPr/>
        <a:lstStyle/>
        <a:p>
          <a:r>
            <a:rPr lang="en-IN" dirty="0"/>
            <a:t>• Introduction</a:t>
          </a:r>
          <a:endParaRPr lang="en-GB" dirty="0"/>
        </a:p>
      </dgm:t>
    </dgm:pt>
    <dgm:pt modelId="{518545D6-9AE0-BC4D-B3AC-8341DF0B8FA5}" type="parTrans" cxnId="{470720D5-0DBF-8249-9477-B24D26852B30}">
      <dgm:prSet/>
      <dgm:spPr/>
      <dgm:t>
        <a:bodyPr/>
        <a:lstStyle/>
        <a:p>
          <a:endParaRPr lang="en-US"/>
        </a:p>
      </dgm:t>
    </dgm:pt>
    <dgm:pt modelId="{659AFADF-7403-6C4D-8AA1-006F68283420}" type="sibTrans" cxnId="{470720D5-0DBF-8249-9477-B24D26852B30}">
      <dgm:prSet/>
      <dgm:spPr/>
      <dgm:t>
        <a:bodyPr/>
        <a:lstStyle/>
        <a:p>
          <a:endParaRPr lang="en-US"/>
        </a:p>
      </dgm:t>
    </dgm:pt>
    <dgm:pt modelId="{3B23BA8B-9B02-5744-8EE0-58C278E799B1}">
      <dgm:prSet/>
      <dgm:spPr/>
      <dgm:t>
        <a:bodyPr/>
        <a:lstStyle/>
        <a:p>
          <a:r>
            <a:rPr lang="en-IN" dirty="0"/>
            <a:t>• System Architecture </a:t>
          </a:r>
        </a:p>
      </dgm:t>
    </dgm:pt>
    <dgm:pt modelId="{22ACF72F-4567-804A-890E-AD4104D5B5B7}" type="parTrans" cxnId="{30BED450-587B-6048-88D5-B7252E2A78F1}">
      <dgm:prSet/>
      <dgm:spPr/>
      <dgm:t>
        <a:bodyPr/>
        <a:lstStyle/>
        <a:p>
          <a:endParaRPr lang="en-GB"/>
        </a:p>
      </dgm:t>
    </dgm:pt>
    <dgm:pt modelId="{1E04690E-876F-7249-8DD7-A947FB25B18A}" type="sibTrans" cxnId="{30BED450-587B-6048-88D5-B7252E2A78F1}">
      <dgm:prSet/>
      <dgm:spPr/>
      <dgm:t>
        <a:bodyPr/>
        <a:lstStyle/>
        <a:p>
          <a:endParaRPr lang="en-GB"/>
        </a:p>
      </dgm:t>
    </dgm:pt>
    <dgm:pt modelId="{6B8C161B-D637-FA46-9EE0-B9E19425F58E}">
      <dgm:prSet custT="1"/>
      <dgm:spPr/>
      <dgm:t>
        <a:bodyPr/>
        <a:lstStyle/>
        <a:p>
          <a:r>
            <a:rPr lang="en-IN" sz="3100" kern="1200" dirty="0"/>
            <a:t>• </a:t>
          </a:r>
          <a:r>
            <a:rPr lang="en-IN" sz="31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Perform HPS: Plaintext Input and Key Generating.</a:t>
          </a:r>
        </a:p>
      </dgm:t>
    </dgm:pt>
    <dgm:pt modelId="{C7F99757-7244-BE44-8B29-2F90FF3428C7}" type="parTrans" cxnId="{1C1B4571-8B68-0B41-A95A-370413364EF0}">
      <dgm:prSet/>
      <dgm:spPr/>
      <dgm:t>
        <a:bodyPr/>
        <a:lstStyle/>
        <a:p>
          <a:endParaRPr lang="en-GB"/>
        </a:p>
      </dgm:t>
    </dgm:pt>
    <dgm:pt modelId="{5E28F699-D238-0247-B1D6-C989D6F0859C}" type="sibTrans" cxnId="{1C1B4571-8B68-0B41-A95A-370413364EF0}">
      <dgm:prSet/>
      <dgm:spPr/>
      <dgm:t>
        <a:bodyPr/>
        <a:lstStyle/>
        <a:p>
          <a:endParaRPr lang="en-GB"/>
        </a:p>
      </dgm:t>
    </dgm:pt>
    <dgm:pt modelId="{BDE47993-446C-C744-BA8D-0123E52751D6}">
      <dgm:prSet custT="1"/>
      <dgm:spPr/>
      <dgm:t>
        <a:bodyPr/>
        <a:lstStyle/>
        <a:p>
          <a:r>
            <a:rPr lang="en-IN" sz="3100" kern="1200" dirty="0"/>
            <a:t>• </a:t>
          </a:r>
          <a:r>
            <a:rPr lang="en-IN" sz="31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Perform HPS–FPGA : MEMORY – MAPPED AXI.</a:t>
          </a:r>
        </a:p>
      </dgm:t>
    </dgm:pt>
    <dgm:pt modelId="{9FD7BA43-BDBF-5D49-8FC7-30240DE134FA}" type="parTrans" cxnId="{8C8259BF-A1BF-E44C-BB86-2684711981D1}">
      <dgm:prSet/>
      <dgm:spPr/>
      <dgm:t>
        <a:bodyPr/>
        <a:lstStyle/>
        <a:p>
          <a:endParaRPr lang="en-GB"/>
        </a:p>
      </dgm:t>
    </dgm:pt>
    <dgm:pt modelId="{8E2714C9-959F-4B4B-89B1-79E05458B277}" type="sibTrans" cxnId="{8C8259BF-A1BF-E44C-BB86-2684711981D1}">
      <dgm:prSet/>
      <dgm:spPr/>
      <dgm:t>
        <a:bodyPr/>
        <a:lstStyle/>
        <a:p>
          <a:endParaRPr lang="en-GB"/>
        </a:p>
      </dgm:t>
    </dgm:pt>
    <dgm:pt modelId="{FB96EFF6-51FA-7A43-BAF6-9CA29C13D02C}">
      <dgm:prSet/>
      <dgm:spPr/>
      <dgm:t>
        <a:bodyPr/>
        <a:lstStyle/>
        <a:p>
          <a:r>
            <a:rPr lang="en-IN" dirty="0"/>
            <a:t>• Demonstrate a fully working HW/SW integrated system.</a:t>
          </a:r>
        </a:p>
      </dgm:t>
    </dgm:pt>
    <dgm:pt modelId="{BA17380A-FE6A-E74D-8D57-3D4303763826}" type="parTrans" cxnId="{17DA3ABF-4C39-2741-891F-5C1DE338A0F5}">
      <dgm:prSet/>
      <dgm:spPr/>
      <dgm:t>
        <a:bodyPr/>
        <a:lstStyle/>
        <a:p>
          <a:endParaRPr lang="en-GB"/>
        </a:p>
      </dgm:t>
    </dgm:pt>
    <dgm:pt modelId="{7BA7ACB0-A66F-A741-8346-173D614B7199}" type="sibTrans" cxnId="{17DA3ABF-4C39-2741-891F-5C1DE338A0F5}">
      <dgm:prSet/>
      <dgm:spPr/>
      <dgm:t>
        <a:bodyPr/>
        <a:lstStyle/>
        <a:p>
          <a:endParaRPr lang="en-GB"/>
        </a:p>
      </dgm:t>
    </dgm:pt>
    <dgm:pt modelId="{69F89ACE-7897-154B-B175-85354B6DCB08}" type="pres">
      <dgm:prSet presAssocID="{1701B9BA-F3DF-430E-809F-B99AE377E84C}" presName="vert0" presStyleCnt="0">
        <dgm:presLayoutVars>
          <dgm:dir/>
          <dgm:animOne val="branch"/>
          <dgm:animLvl val="lvl"/>
        </dgm:presLayoutVars>
      </dgm:prSet>
      <dgm:spPr/>
    </dgm:pt>
    <dgm:pt modelId="{FC16FC45-27D2-BC49-B62A-77A76DA636CE}" type="pres">
      <dgm:prSet presAssocID="{4185D894-5318-EC48-A051-F5A1C6031914}" presName="thickLine" presStyleLbl="alignNode1" presStyleIdx="0" presStyleCnt="5"/>
      <dgm:spPr/>
    </dgm:pt>
    <dgm:pt modelId="{A546325F-C3DA-2146-8D28-5591A20106D6}" type="pres">
      <dgm:prSet presAssocID="{4185D894-5318-EC48-A051-F5A1C6031914}" presName="horz1" presStyleCnt="0"/>
      <dgm:spPr/>
    </dgm:pt>
    <dgm:pt modelId="{D21B280F-737B-CC4C-818B-391C21B8C614}" type="pres">
      <dgm:prSet presAssocID="{4185D894-5318-EC48-A051-F5A1C6031914}" presName="tx1" presStyleLbl="revTx" presStyleIdx="0" presStyleCnt="5"/>
      <dgm:spPr/>
    </dgm:pt>
    <dgm:pt modelId="{B411E18F-43F8-764D-A098-6E5B05EAC440}" type="pres">
      <dgm:prSet presAssocID="{4185D894-5318-EC48-A051-F5A1C6031914}" presName="vert1" presStyleCnt="0"/>
      <dgm:spPr/>
    </dgm:pt>
    <dgm:pt modelId="{31F16FE3-ED90-E84E-AB2B-DB050FF24609}" type="pres">
      <dgm:prSet presAssocID="{3B23BA8B-9B02-5744-8EE0-58C278E799B1}" presName="thickLine" presStyleLbl="alignNode1" presStyleIdx="1" presStyleCnt="5"/>
      <dgm:spPr/>
    </dgm:pt>
    <dgm:pt modelId="{EA9BE02A-565C-EA4C-8E76-D2B397490634}" type="pres">
      <dgm:prSet presAssocID="{3B23BA8B-9B02-5744-8EE0-58C278E799B1}" presName="horz1" presStyleCnt="0"/>
      <dgm:spPr/>
    </dgm:pt>
    <dgm:pt modelId="{F7A79BC6-9E2A-5E45-90EB-F64FDA037818}" type="pres">
      <dgm:prSet presAssocID="{3B23BA8B-9B02-5744-8EE0-58C278E799B1}" presName="tx1" presStyleLbl="revTx" presStyleIdx="1" presStyleCnt="5"/>
      <dgm:spPr/>
    </dgm:pt>
    <dgm:pt modelId="{294275CB-2230-684F-8105-7CF1A8EB2FBB}" type="pres">
      <dgm:prSet presAssocID="{3B23BA8B-9B02-5744-8EE0-58C278E799B1}" presName="vert1" presStyleCnt="0"/>
      <dgm:spPr/>
    </dgm:pt>
    <dgm:pt modelId="{9E6DB5A8-8D88-8F47-86CB-92E3D0C85D97}" type="pres">
      <dgm:prSet presAssocID="{6B8C161B-D637-FA46-9EE0-B9E19425F58E}" presName="thickLine" presStyleLbl="alignNode1" presStyleIdx="2" presStyleCnt="5"/>
      <dgm:spPr/>
    </dgm:pt>
    <dgm:pt modelId="{1AE5284A-5F17-944B-881C-6738F80B1A5F}" type="pres">
      <dgm:prSet presAssocID="{6B8C161B-D637-FA46-9EE0-B9E19425F58E}" presName="horz1" presStyleCnt="0"/>
      <dgm:spPr/>
    </dgm:pt>
    <dgm:pt modelId="{09D05C36-F297-C646-80D0-66DA880FBB6D}" type="pres">
      <dgm:prSet presAssocID="{6B8C161B-D637-FA46-9EE0-B9E19425F58E}" presName="tx1" presStyleLbl="revTx" presStyleIdx="2" presStyleCnt="5"/>
      <dgm:spPr/>
    </dgm:pt>
    <dgm:pt modelId="{FD071F84-4466-0948-A94B-559A3D8AB704}" type="pres">
      <dgm:prSet presAssocID="{6B8C161B-D637-FA46-9EE0-B9E19425F58E}" presName="vert1" presStyleCnt="0"/>
      <dgm:spPr/>
    </dgm:pt>
    <dgm:pt modelId="{FF65C555-6087-FA48-8D0E-8E837FDBB05A}" type="pres">
      <dgm:prSet presAssocID="{BDE47993-446C-C744-BA8D-0123E52751D6}" presName="thickLine" presStyleLbl="alignNode1" presStyleIdx="3" presStyleCnt="5"/>
      <dgm:spPr/>
    </dgm:pt>
    <dgm:pt modelId="{367BE086-E3E8-D74F-B088-31EA59847170}" type="pres">
      <dgm:prSet presAssocID="{BDE47993-446C-C744-BA8D-0123E52751D6}" presName="horz1" presStyleCnt="0"/>
      <dgm:spPr/>
    </dgm:pt>
    <dgm:pt modelId="{EF909D69-8F1C-214A-953E-8FDD6B49246A}" type="pres">
      <dgm:prSet presAssocID="{BDE47993-446C-C744-BA8D-0123E52751D6}" presName="tx1" presStyleLbl="revTx" presStyleIdx="3" presStyleCnt="5"/>
      <dgm:spPr/>
    </dgm:pt>
    <dgm:pt modelId="{15E7848B-7BD5-1D4B-9BF3-1C13BD264B75}" type="pres">
      <dgm:prSet presAssocID="{BDE47993-446C-C744-BA8D-0123E52751D6}" presName="vert1" presStyleCnt="0"/>
      <dgm:spPr/>
    </dgm:pt>
    <dgm:pt modelId="{01E0B445-5C93-A54B-A0FC-CE28D8761990}" type="pres">
      <dgm:prSet presAssocID="{FB96EFF6-51FA-7A43-BAF6-9CA29C13D02C}" presName="thickLine" presStyleLbl="alignNode1" presStyleIdx="4" presStyleCnt="5"/>
      <dgm:spPr/>
    </dgm:pt>
    <dgm:pt modelId="{5A186DAF-97D6-A449-A618-6136A8EAD819}" type="pres">
      <dgm:prSet presAssocID="{FB96EFF6-51FA-7A43-BAF6-9CA29C13D02C}" presName="horz1" presStyleCnt="0"/>
      <dgm:spPr/>
    </dgm:pt>
    <dgm:pt modelId="{E4A2C262-416A-4F47-92BE-8D16987C2DDB}" type="pres">
      <dgm:prSet presAssocID="{FB96EFF6-51FA-7A43-BAF6-9CA29C13D02C}" presName="tx1" presStyleLbl="revTx" presStyleIdx="4" presStyleCnt="5"/>
      <dgm:spPr/>
    </dgm:pt>
    <dgm:pt modelId="{151A2968-F099-2E40-B735-50C76A8045BC}" type="pres">
      <dgm:prSet presAssocID="{FB96EFF6-51FA-7A43-BAF6-9CA29C13D02C}" presName="vert1" presStyleCnt="0"/>
      <dgm:spPr/>
    </dgm:pt>
  </dgm:ptLst>
  <dgm:cxnLst>
    <dgm:cxn modelId="{5586C35C-EE88-9F4A-A8FC-2E4AB51929F1}" type="presOf" srcId="{FB96EFF6-51FA-7A43-BAF6-9CA29C13D02C}" destId="{E4A2C262-416A-4F47-92BE-8D16987C2DDB}" srcOrd="0" destOrd="0" presId="urn:microsoft.com/office/officeart/2008/layout/LinedList"/>
    <dgm:cxn modelId="{961E9663-CEEC-6B4B-AC14-3FA068DFEC73}" type="presOf" srcId="{3B23BA8B-9B02-5744-8EE0-58C278E799B1}" destId="{F7A79BC6-9E2A-5E45-90EB-F64FDA037818}" srcOrd="0" destOrd="0" presId="urn:microsoft.com/office/officeart/2008/layout/LinedList"/>
    <dgm:cxn modelId="{30BED450-587B-6048-88D5-B7252E2A78F1}" srcId="{1701B9BA-F3DF-430E-809F-B99AE377E84C}" destId="{3B23BA8B-9B02-5744-8EE0-58C278E799B1}" srcOrd="1" destOrd="0" parTransId="{22ACF72F-4567-804A-890E-AD4104D5B5B7}" sibTransId="{1E04690E-876F-7249-8DD7-A947FB25B18A}"/>
    <dgm:cxn modelId="{1C1B4571-8B68-0B41-A95A-370413364EF0}" srcId="{1701B9BA-F3DF-430E-809F-B99AE377E84C}" destId="{6B8C161B-D637-FA46-9EE0-B9E19425F58E}" srcOrd="2" destOrd="0" parTransId="{C7F99757-7244-BE44-8B29-2F90FF3428C7}" sibTransId="{5E28F699-D238-0247-B1D6-C989D6F0859C}"/>
    <dgm:cxn modelId="{83C9E176-CC60-E848-A8A5-9C75923F8822}" type="presOf" srcId="{6B8C161B-D637-FA46-9EE0-B9E19425F58E}" destId="{09D05C36-F297-C646-80D0-66DA880FBB6D}" srcOrd="0" destOrd="0" presId="urn:microsoft.com/office/officeart/2008/layout/LinedList"/>
    <dgm:cxn modelId="{9F917758-6353-0240-976B-B17A934B3A4A}" type="presOf" srcId="{4185D894-5318-EC48-A051-F5A1C6031914}" destId="{D21B280F-737B-CC4C-818B-391C21B8C614}" srcOrd="0" destOrd="0" presId="urn:microsoft.com/office/officeart/2008/layout/LinedList"/>
    <dgm:cxn modelId="{37F1DC9F-63A8-B446-90F5-C6347E9F537D}" type="presOf" srcId="{1701B9BA-F3DF-430E-809F-B99AE377E84C}" destId="{69F89ACE-7897-154B-B175-85354B6DCB08}" srcOrd="0" destOrd="0" presId="urn:microsoft.com/office/officeart/2008/layout/LinedList"/>
    <dgm:cxn modelId="{E0B35DB0-F28A-C245-97E0-83FC9B95299C}" type="presOf" srcId="{BDE47993-446C-C744-BA8D-0123E52751D6}" destId="{EF909D69-8F1C-214A-953E-8FDD6B49246A}" srcOrd="0" destOrd="0" presId="urn:microsoft.com/office/officeart/2008/layout/LinedList"/>
    <dgm:cxn modelId="{17DA3ABF-4C39-2741-891F-5C1DE338A0F5}" srcId="{1701B9BA-F3DF-430E-809F-B99AE377E84C}" destId="{FB96EFF6-51FA-7A43-BAF6-9CA29C13D02C}" srcOrd="4" destOrd="0" parTransId="{BA17380A-FE6A-E74D-8D57-3D4303763826}" sibTransId="{7BA7ACB0-A66F-A741-8346-173D614B7199}"/>
    <dgm:cxn modelId="{8C8259BF-A1BF-E44C-BB86-2684711981D1}" srcId="{1701B9BA-F3DF-430E-809F-B99AE377E84C}" destId="{BDE47993-446C-C744-BA8D-0123E52751D6}" srcOrd="3" destOrd="0" parTransId="{9FD7BA43-BDBF-5D49-8FC7-30240DE134FA}" sibTransId="{8E2714C9-959F-4B4B-89B1-79E05458B277}"/>
    <dgm:cxn modelId="{470720D5-0DBF-8249-9477-B24D26852B30}" srcId="{1701B9BA-F3DF-430E-809F-B99AE377E84C}" destId="{4185D894-5318-EC48-A051-F5A1C6031914}" srcOrd="0" destOrd="0" parTransId="{518545D6-9AE0-BC4D-B3AC-8341DF0B8FA5}" sibTransId="{659AFADF-7403-6C4D-8AA1-006F68283420}"/>
    <dgm:cxn modelId="{E84AE8B9-F909-2E4C-B749-E6D2C1F29DD3}" type="presParOf" srcId="{69F89ACE-7897-154B-B175-85354B6DCB08}" destId="{FC16FC45-27D2-BC49-B62A-77A76DA636CE}" srcOrd="0" destOrd="0" presId="urn:microsoft.com/office/officeart/2008/layout/LinedList"/>
    <dgm:cxn modelId="{9DAD5762-93E0-4245-AB28-050179D080F5}" type="presParOf" srcId="{69F89ACE-7897-154B-B175-85354B6DCB08}" destId="{A546325F-C3DA-2146-8D28-5591A20106D6}" srcOrd="1" destOrd="0" presId="urn:microsoft.com/office/officeart/2008/layout/LinedList"/>
    <dgm:cxn modelId="{170DFE44-EBFC-0E4D-87E6-8D9B9EE75BA8}" type="presParOf" srcId="{A546325F-C3DA-2146-8D28-5591A20106D6}" destId="{D21B280F-737B-CC4C-818B-391C21B8C614}" srcOrd="0" destOrd="0" presId="urn:microsoft.com/office/officeart/2008/layout/LinedList"/>
    <dgm:cxn modelId="{67ED359E-799E-E84A-9441-165E71F332C2}" type="presParOf" srcId="{A546325F-C3DA-2146-8D28-5591A20106D6}" destId="{B411E18F-43F8-764D-A098-6E5B05EAC440}" srcOrd="1" destOrd="0" presId="urn:microsoft.com/office/officeart/2008/layout/LinedList"/>
    <dgm:cxn modelId="{FF9FFFA7-D75C-3740-A9C7-BA28464D15DA}" type="presParOf" srcId="{69F89ACE-7897-154B-B175-85354B6DCB08}" destId="{31F16FE3-ED90-E84E-AB2B-DB050FF24609}" srcOrd="2" destOrd="0" presId="urn:microsoft.com/office/officeart/2008/layout/LinedList"/>
    <dgm:cxn modelId="{2297652D-398D-3C45-9365-E763F073B739}" type="presParOf" srcId="{69F89ACE-7897-154B-B175-85354B6DCB08}" destId="{EA9BE02A-565C-EA4C-8E76-D2B397490634}" srcOrd="3" destOrd="0" presId="urn:microsoft.com/office/officeart/2008/layout/LinedList"/>
    <dgm:cxn modelId="{BF4E2124-945E-914A-AA12-9F3EA1F0E9CB}" type="presParOf" srcId="{EA9BE02A-565C-EA4C-8E76-D2B397490634}" destId="{F7A79BC6-9E2A-5E45-90EB-F64FDA037818}" srcOrd="0" destOrd="0" presId="urn:microsoft.com/office/officeart/2008/layout/LinedList"/>
    <dgm:cxn modelId="{467EA5D2-DCEA-E84F-AD5F-6EE5732BFFA3}" type="presParOf" srcId="{EA9BE02A-565C-EA4C-8E76-D2B397490634}" destId="{294275CB-2230-684F-8105-7CF1A8EB2FBB}" srcOrd="1" destOrd="0" presId="urn:microsoft.com/office/officeart/2008/layout/LinedList"/>
    <dgm:cxn modelId="{2170C585-1A6D-E840-A237-39C49EF462AC}" type="presParOf" srcId="{69F89ACE-7897-154B-B175-85354B6DCB08}" destId="{9E6DB5A8-8D88-8F47-86CB-92E3D0C85D97}" srcOrd="4" destOrd="0" presId="urn:microsoft.com/office/officeart/2008/layout/LinedList"/>
    <dgm:cxn modelId="{012F6967-6943-3441-91C6-84ECA8A0ECAA}" type="presParOf" srcId="{69F89ACE-7897-154B-B175-85354B6DCB08}" destId="{1AE5284A-5F17-944B-881C-6738F80B1A5F}" srcOrd="5" destOrd="0" presId="urn:microsoft.com/office/officeart/2008/layout/LinedList"/>
    <dgm:cxn modelId="{BC47F655-0273-354E-A1A6-20BF43C5DD15}" type="presParOf" srcId="{1AE5284A-5F17-944B-881C-6738F80B1A5F}" destId="{09D05C36-F297-C646-80D0-66DA880FBB6D}" srcOrd="0" destOrd="0" presId="urn:microsoft.com/office/officeart/2008/layout/LinedList"/>
    <dgm:cxn modelId="{58B55E11-CBD0-F349-9FAE-547C3433625A}" type="presParOf" srcId="{1AE5284A-5F17-944B-881C-6738F80B1A5F}" destId="{FD071F84-4466-0948-A94B-559A3D8AB704}" srcOrd="1" destOrd="0" presId="urn:microsoft.com/office/officeart/2008/layout/LinedList"/>
    <dgm:cxn modelId="{F52C8CD3-4834-0746-A0BD-64A16D253119}" type="presParOf" srcId="{69F89ACE-7897-154B-B175-85354B6DCB08}" destId="{FF65C555-6087-FA48-8D0E-8E837FDBB05A}" srcOrd="6" destOrd="0" presId="urn:microsoft.com/office/officeart/2008/layout/LinedList"/>
    <dgm:cxn modelId="{E440BA60-2514-C64B-99DC-55E5B470BC58}" type="presParOf" srcId="{69F89ACE-7897-154B-B175-85354B6DCB08}" destId="{367BE086-E3E8-D74F-B088-31EA59847170}" srcOrd="7" destOrd="0" presId="urn:microsoft.com/office/officeart/2008/layout/LinedList"/>
    <dgm:cxn modelId="{A776160B-AE2A-C44D-A0A1-0392850D15D9}" type="presParOf" srcId="{367BE086-E3E8-D74F-B088-31EA59847170}" destId="{EF909D69-8F1C-214A-953E-8FDD6B49246A}" srcOrd="0" destOrd="0" presId="urn:microsoft.com/office/officeart/2008/layout/LinedList"/>
    <dgm:cxn modelId="{DBD2260D-72E4-D244-8EAE-60DB7BBF6576}" type="presParOf" srcId="{367BE086-E3E8-D74F-B088-31EA59847170}" destId="{15E7848B-7BD5-1D4B-9BF3-1C13BD264B75}" srcOrd="1" destOrd="0" presId="urn:microsoft.com/office/officeart/2008/layout/LinedList"/>
    <dgm:cxn modelId="{13A2D36B-64C6-C344-B52C-F78177A248EB}" type="presParOf" srcId="{69F89ACE-7897-154B-B175-85354B6DCB08}" destId="{01E0B445-5C93-A54B-A0FC-CE28D8761990}" srcOrd="8" destOrd="0" presId="urn:microsoft.com/office/officeart/2008/layout/LinedList"/>
    <dgm:cxn modelId="{3BEA7EF7-A7F9-CB45-A420-C32A943CDF9B}" type="presParOf" srcId="{69F89ACE-7897-154B-B175-85354B6DCB08}" destId="{5A186DAF-97D6-A449-A618-6136A8EAD819}" srcOrd="9" destOrd="0" presId="urn:microsoft.com/office/officeart/2008/layout/LinedList"/>
    <dgm:cxn modelId="{5079BD4C-6BB9-8247-A6AA-356D45775B55}" type="presParOf" srcId="{5A186DAF-97D6-A449-A618-6136A8EAD819}" destId="{E4A2C262-416A-4F47-92BE-8D16987C2DDB}" srcOrd="0" destOrd="0" presId="urn:microsoft.com/office/officeart/2008/layout/LinedList"/>
    <dgm:cxn modelId="{5EB7D3B9-826E-804F-9415-9F72313FC543}" type="presParOf" srcId="{5A186DAF-97D6-A449-A618-6136A8EAD819}" destId="{151A2968-F099-2E40-B735-50C76A8045BC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3B5551F-5EDE-4163-9B77-49C0C3DB473B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F3BBC181-BED3-41F5-B5AD-BD838A10F884}">
      <dgm:prSet/>
      <dgm:spPr/>
      <dgm:t>
        <a:bodyPr/>
        <a:lstStyle/>
        <a:p>
          <a:r>
            <a:rPr lang="en-US"/>
            <a:t>End-to-end system working demonstration</a:t>
          </a:r>
        </a:p>
      </dgm:t>
    </dgm:pt>
    <dgm:pt modelId="{4A4BFD86-3444-4CDC-A9D2-7BDDDE1E04BB}" type="parTrans" cxnId="{BA61D858-D18D-4258-B64B-14AC02EE0B94}">
      <dgm:prSet/>
      <dgm:spPr/>
      <dgm:t>
        <a:bodyPr/>
        <a:lstStyle/>
        <a:p>
          <a:endParaRPr lang="en-US"/>
        </a:p>
      </dgm:t>
    </dgm:pt>
    <dgm:pt modelId="{A6096C57-76C0-4B25-B35A-E1A2064713FF}" type="sibTrans" cxnId="{BA61D858-D18D-4258-B64B-14AC02EE0B94}">
      <dgm:prSet/>
      <dgm:spPr/>
      <dgm:t>
        <a:bodyPr/>
        <a:lstStyle/>
        <a:p>
          <a:endParaRPr lang="en-US"/>
        </a:p>
      </dgm:t>
    </dgm:pt>
    <dgm:pt modelId="{F3528066-17F8-44AA-85EC-7E5A7639F54F}">
      <dgm:prSet/>
      <dgm:spPr/>
      <dgm:t>
        <a:bodyPr/>
        <a:lstStyle/>
        <a:p>
          <a:r>
            <a:rPr lang="en-US"/>
            <a:t>Synthesis / implementation reports</a:t>
          </a:r>
        </a:p>
      </dgm:t>
    </dgm:pt>
    <dgm:pt modelId="{2F7F9649-D5A3-4513-A12E-7D3727558860}" type="parTrans" cxnId="{5AEE7004-85DB-4437-AAF1-8C35552EA68A}">
      <dgm:prSet/>
      <dgm:spPr/>
      <dgm:t>
        <a:bodyPr/>
        <a:lstStyle/>
        <a:p>
          <a:endParaRPr lang="en-US"/>
        </a:p>
      </dgm:t>
    </dgm:pt>
    <dgm:pt modelId="{D1597BF8-A430-4636-AF15-69B79E162184}" type="sibTrans" cxnId="{5AEE7004-85DB-4437-AAF1-8C35552EA68A}">
      <dgm:prSet/>
      <dgm:spPr/>
      <dgm:t>
        <a:bodyPr/>
        <a:lstStyle/>
        <a:p>
          <a:endParaRPr lang="en-US"/>
        </a:p>
      </dgm:t>
    </dgm:pt>
    <dgm:pt modelId="{277AD9B0-CB1F-4E3E-A693-9F1B463497D0}">
      <dgm:prSet/>
      <dgm:spPr/>
      <dgm:t>
        <a:bodyPr/>
        <a:lstStyle/>
        <a:p>
          <a:r>
            <a:rPr lang="en-US" dirty="0">
              <a:hlinkClick xmlns:r="http://schemas.openxmlformats.org/officeDocument/2006/relationships" r:id="rId1"/>
            </a:rPr>
            <a:t>YouTube demo link</a:t>
          </a:r>
          <a:endParaRPr lang="en-US" dirty="0"/>
        </a:p>
      </dgm:t>
    </dgm:pt>
    <dgm:pt modelId="{A214E87C-65B5-4F7F-BAE4-3CE3022C03FC}" type="parTrans" cxnId="{1C6AB478-8F5D-481E-ABC3-C458236307C3}">
      <dgm:prSet/>
      <dgm:spPr/>
      <dgm:t>
        <a:bodyPr/>
        <a:lstStyle/>
        <a:p>
          <a:endParaRPr lang="en-US"/>
        </a:p>
      </dgm:t>
    </dgm:pt>
    <dgm:pt modelId="{7AF52506-72E5-455F-A44F-3C013336C3E1}" type="sibTrans" cxnId="{1C6AB478-8F5D-481E-ABC3-C458236307C3}">
      <dgm:prSet/>
      <dgm:spPr/>
      <dgm:t>
        <a:bodyPr/>
        <a:lstStyle/>
        <a:p>
          <a:endParaRPr lang="en-US"/>
        </a:p>
      </dgm:t>
    </dgm:pt>
    <dgm:pt modelId="{F62AF75C-D919-B143-B6B0-729D6DE5F79B}" type="pres">
      <dgm:prSet presAssocID="{E3B5551F-5EDE-4163-9B77-49C0C3DB473B}" presName="linear" presStyleCnt="0">
        <dgm:presLayoutVars>
          <dgm:animLvl val="lvl"/>
          <dgm:resizeHandles val="exact"/>
        </dgm:presLayoutVars>
      </dgm:prSet>
      <dgm:spPr/>
    </dgm:pt>
    <dgm:pt modelId="{75AD2E7B-BE20-6149-9C08-131C8C0C5E92}" type="pres">
      <dgm:prSet presAssocID="{F3BBC181-BED3-41F5-B5AD-BD838A10F884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9D1C05BB-5711-484F-B02C-7AF21BDE1815}" type="pres">
      <dgm:prSet presAssocID="{A6096C57-76C0-4B25-B35A-E1A2064713FF}" presName="spacer" presStyleCnt="0"/>
      <dgm:spPr/>
    </dgm:pt>
    <dgm:pt modelId="{5F84FBF2-99D7-C743-B4BA-6C2A0611200B}" type="pres">
      <dgm:prSet presAssocID="{F3528066-17F8-44AA-85EC-7E5A7639F54F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4A0238BB-C5AD-6340-850B-422D54C5527F}" type="pres">
      <dgm:prSet presAssocID="{D1597BF8-A430-4636-AF15-69B79E162184}" presName="spacer" presStyleCnt="0"/>
      <dgm:spPr/>
    </dgm:pt>
    <dgm:pt modelId="{47EFAFE8-6D3F-5049-83A1-FA036AE7E3AF}" type="pres">
      <dgm:prSet presAssocID="{277AD9B0-CB1F-4E3E-A693-9F1B463497D0}" presName="parentText" presStyleLbl="node1" presStyleIdx="2" presStyleCnt="3">
        <dgm:presLayoutVars>
          <dgm:chMax val="0"/>
          <dgm:bulletEnabled val="1"/>
        </dgm:presLayoutVars>
      </dgm:prSet>
      <dgm:spPr/>
    </dgm:pt>
  </dgm:ptLst>
  <dgm:cxnLst>
    <dgm:cxn modelId="{3A6A8803-EEED-1040-945D-83C100916463}" type="presOf" srcId="{E3B5551F-5EDE-4163-9B77-49C0C3DB473B}" destId="{F62AF75C-D919-B143-B6B0-729D6DE5F79B}" srcOrd="0" destOrd="0" presId="urn:microsoft.com/office/officeart/2005/8/layout/vList2"/>
    <dgm:cxn modelId="{5AEE7004-85DB-4437-AAF1-8C35552EA68A}" srcId="{E3B5551F-5EDE-4163-9B77-49C0C3DB473B}" destId="{F3528066-17F8-44AA-85EC-7E5A7639F54F}" srcOrd="1" destOrd="0" parTransId="{2F7F9649-D5A3-4513-A12E-7D3727558860}" sibTransId="{D1597BF8-A430-4636-AF15-69B79E162184}"/>
    <dgm:cxn modelId="{1C6AB478-8F5D-481E-ABC3-C458236307C3}" srcId="{E3B5551F-5EDE-4163-9B77-49C0C3DB473B}" destId="{277AD9B0-CB1F-4E3E-A693-9F1B463497D0}" srcOrd="2" destOrd="0" parTransId="{A214E87C-65B5-4F7F-BAE4-3CE3022C03FC}" sibTransId="{7AF52506-72E5-455F-A44F-3C013336C3E1}"/>
    <dgm:cxn modelId="{BA61D858-D18D-4258-B64B-14AC02EE0B94}" srcId="{E3B5551F-5EDE-4163-9B77-49C0C3DB473B}" destId="{F3BBC181-BED3-41F5-B5AD-BD838A10F884}" srcOrd="0" destOrd="0" parTransId="{4A4BFD86-3444-4CDC-A9D2-7BDDDE1E04BB}" sibTransId="{A6096C57-76C0-4B25-B35A-E1A2064713FF}"/>
    <dgm:cxn modelId="{E758D193-5DDE-AC44-AB34-D2CA2920038C}" type="presOf" srcId="{F3528066-17F8-44AA-85EC-7E5A7639F54F}" destId="{5F84FBF2-99D7-C743-B4BA-6C2A0611200B}" srcOrd="0" destOrd="0" presId="urn:microsoft.com/office/officeart/2005/8/layout/vList2"/>
    <dgm:cxn modelId="{AF9175EB-C307-E74E-B4FC-82BB53068CDD}" type="presOf" srcId="{277AD9B0-CB1F-4E3E-A693-9F1B463497D0}" destId="{47EFAFE8-6D3F-5049-83A1-FA036AE7E3AF}" srcOrd="0" destOrd="0" presId="urn:microsoft.com/office/officeart/2005/8/layout/vList2"/>
    <dgm:cxn modelId="{4F388BF3-8691-364A-9BD1-5DC0F3E69818}" type="presOf" srcId="{F3BBC181-BED3-41F5-B5AD-BD838A10F884}" destId="{75AD2E7B-BE20-6149-9C08-131C8C0C5E92}" srcOrd="0" destOrd="0" presId="urn:microsoft.com/office/officeart/2005/8/layout/vList2"/>
    <dgm:cxn modelId="{F580711F-896C-784F-96A7-132BD23F3D81}" type="presParOf" srcId="{F62AF75C-D919-B143-B6B0-729D6DE5F79B}" destId="{75AD2E7B-BE20-6149-9C08-131C8C0C5E92}" srcOrd="0" destOrd="0" presId="urn:microsoft.com/office/officeart/2005/8/layout/vList2"/>
    <dgm:cxn modelId="{D8E5F34E-C7B6-8C40-85FC-70CD06C8DA6E}" type="presParOf" srcId="{F62AF75C-D919-B143-B6B0-729D6DE5F79B}" destId="{9D1C05BB-5711-484F-B02C-7AF21BDE1815}" srcOrd="1" destOrd="0" presId="urn:microsoft.com/office/officeart/2005/8/layout/vList2"/>
    <dgm:cxn modelId="{686977F6-5255-8E49-B501-F3BB6FCB235E}" type="presParOf" srcId="{F62AF75C-D919-B143-B6B0-729D6DE5F79B}" destId="{5F84FBF2-99D7-C743-B4BA-6C2A0611200B}" srcOrd="2" destOrd="0" presId="urn:microsoft.com/office/officeart/2005/8/layout/vList2"/>
    <dgm:cxn modelId="{7A454BA0-04FF-C046-B521-9EDF4E3D49DB}" type="presParOf" srcId="{F62AF75C-D919-B143-B6B0-729D6DE5F79B}" destId="{4A0238BB-C5AD-6340-850B-422D54C5527F}" srcOrd="3" destOrd="0" presId="urn:microsoft.com/office/officeart/2005/8/layout/vList2"/>
    <dgm:cxn modelId="{8270E9B1-BECA-8449-8AA8-3C449C3BEF15}" type="presParOf" srcId="{F62AF75C-D919-B143-B6B0-729D6DE5F79B}" destId="{47EFAFE8-6D3F-5049-83A1-FA036AE7E3AF}" srcOrd="4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C16FC45-27D2-BC49-B62A-77A76DA636CE}">
      <dsp:nvSpPr>
        <dsp:cNvPr id="0" name=""/>
        <dsp:cNvSpPr/>
      </dsp:nvSpPr>
      <dsp:spPr>
        <a:xfrm>
          <a:off x="0" y="675"/>
          <a:ext cx="5175384" cy="0"/>
        </a:xfrm>
        <a:prstGeom prst="lin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1B280F-737B-CC4C-818B-391C21B8C614}">
      <dsp:nvSpPr>
        <dsp:cNvPr id="0" name=""/>
        <dsp:cNvSpPr/>
      </dsp:nvSpPr>
      <dsp:spPr>
        <a:xfrm>
          <a:off x="0" y="675"/>
          <a:ext cx="5175384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100" kern="1200" dirty="0"/>
            <a:t>• Introduction</a:t>
          </a:r>
          <a:endParaRPr lang="en-GB" sz="3100" kern="1200" dirty="0"/>
        </a:p>
      </dsp:txBody>
      <dsp:txXfrm>
        <a:off x="0" y="675"/>
        <a:ext cx="5175384" cy="1106957"/>
      </dsp:txXfrm>
    </dsp:sp>
    <dsp:sp modelId="{31F16FE3-ED90-E84E-AB2B-DB050FF24609}">
      <dsp:nvSpPr>
        <dsp:cNvPr id="0" name=""/>
        <dsp:cNvSpPr/>
      </dsp:nvSpPr>
      <dsp:spPr>
        <a:xfrm>
          <a:off x="0" y="1107633"/>
          <a:ext cx="5175384" cy="0"/>
        </a:xfrm>
        <a:prstGeom prst="line">
          <a:avLst/>
        </a:prstGeom>
        <a:solidFill>
          <a:schemeClr val="accent2">
            <a:hueOff val="1170380"/>
            <a:satOff val="-1460"/>
            <a:lumOff val="343"/>
            <a:alphaOff val="0"/>
          </a:schemeClr>
        </a:solidFill>
        <a:ln w="25400" cap="flat" cmpd="sng" algn="ctr">
          <a:solidFill>
            <a:schemeClr val="accent2">
              <a:hueOff val="1170380"/>
              <a:satOff val="-1460"/>
              <a:lumOff val="34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A79BC6-9E2A-5E45-90EB-F64FDA037818}">
      <dsp:nvSpPr>
        <dsp:cNvPr id="0" name=""/>
        <dsp:cNvSpPr/>
      </dsp:nvSpPr>
      <dsp:spPr>
        <a:xfrm>
          <a:off x="0" y="1107633"/>
          <a:ext cx="5175384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100" kern="1200" dirty="0"/>
            <a:t>• System Architecture </a:t>
          </a:r>
        </a:p>
      </dsp:txBody>
      <dsp:txXfrm>
        <a:off x="0" y="1107633"/>
        <a:ext cx="5175384" cy="1106957"/>
      </dsp:txXfrm>
    </dsp:sp>
    <dsp:sp modelId="{9E6DB5A8-8D88-8F47-86CB-92E3D0C85D97}">
      <dsp:nvSpPr>
        <dsp:cNvPr id="0" name=""/>
        <dsp:cNvSpPr/>
      </dsp:nvSpPr>
      <dsp:spPr>
        <a:xfrm>
          <a:off x="0" y="2214591"/>
          <a:ext cx="5175384" cy="0"/>
        </a:xfrm>
        <a:prstGeom prst="line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accent2">
              <a:hueOff val="2340759"/>
              <a:satOff val="-2919"/>
              <a:lumOff val="68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D05C36-F297-C646-80D0-66DA880FBB6D}">
      <dsp:nvSpPr>
        <dsp:cNvPr id="0" name=""/>
        <dsp:cNvSpPr/>
      </dsp:nvSpPr>
      <dsp:spPr>
        <a:xfrm>
          <a:off x="0" y="2214591"/>
          <a:ext cx="5175384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100" kern="1200" dirty="0"/>
            <a:t>• </a:t>
          </a:r>
          <a:r>
            <a:rPr lang="en-IN" sz="31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Perform HPS: Plaintext Input and Key Generating.</a:t>
          </a:r>
        </a:p>
      </dsp:txBody>
      <dsp:txXfrm>
        <a:off x="0" y="2214591"/>
        <a:ext cx="5175384" cy="1106957"/>
      </dsp:txXfrm>
    </dsp:sp>
    <dsp:sp modelId="{FF65C555-6087-FA48-8D0E-8E837FDBB05A}">
      <dsp:nvSpPr>
        <dsp:cNvPr id="0" name=""/>
        <dsp:cNvSpPr/>
      </dsp:nvSpPr>
      <dsp:spPr>
        <a:xfrm>
          <a:off x="0" y="3321549"/>
          <a:ext cx="5175384" cy="0"/>
        </a:xfrm>
        <a:prstGeom prst="line">
          <a:avLst/>
        </a:prstGeom>
        <a:solidFill>
          <a:schemeClr val="accent2">
            <a:hueOff val="3511139"/>
            <a:satOff val="-4379"/>
            <a:lumOff val="1030"/>
            <a:alphaOff val="0"/>
          </a:schemeClr>
        </a:solidFill>
        <a:ln w="25400" cap="flat" cmpd="sng" algn="ctr">
          <a:solidFill>
            <a:schemeClr val="accent2">
              <a:hueOff val="3511139"/>
              <a:satOff val="-4379"/>
              <a:lumOff val="103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909D69-8F1C-214A-953E-8FDD6B49246A}">
      <dsp:nvSpPr>
        <dsp:cNvPr id="0" name=""/>
        <dsp:cNvSpPr/>
      </dsp:nvSpPr>
      <dsp:spPr>
        <a:xfrm>
          <a:off x="0" y="3321549"/>
          <a:ext cx="5175384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100" kern="1200" dirty="0"/>
            <a:t>• </a:t>
          </a:r>
          <a:r>
            <a:rPr lang="en-IN" sz="3100" kern="1200" dirty="0">
              <a:solidFill>
                <a:prstClr val="black">
                  <a:hueOff val="0"/>
                  <a:satOff val="0"/>
                  <a:lumOff val="0"/>
                  <a:alphaOff val="0"/>
                </a:prstClr>
              </a:solidFill>
              <a:latin typeface="Calibri"/>
              <a:ea typeface="+mn-ea"/>
              <a:cs typeface="+mn-cs"/>
            </a:rPr>
            <a:t>Perform HPS–FPGA : MEMORY – MAPPED AXI.</a:t>
          </a:r>
        </a:p>
      </dsp:txBody>
      <dsp:txXfrm>
        <a:off x="0" y="3321549"/>
        <a:ext cx="5175384" cy="1106957"/>
      </dsp:txXfrm>
    </dsp:sp>
    <dsp:sp modelId="{01E0B445-5C93-A54B-A0FC-CE28D8761990}">
      <dsp:nvSpPr>
        <dsp:cNvPr id="0" name=""/>
        <dsp:cNvSpPr/>
      </dsp:nvSpPr>
      <dsp:spPr>
        <a:xfrm>
          <a:off x="0" y="4428507"/>
          <a:ext cx="5175384" cy="0"/>
        </a:xfrm>
        <a:prstGeom prst="line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accent2">
              <a:hueOff val="4681519"/>
              <a:satOff val="-5839"/>
              <a:lumOff val="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4A2C262-416A-4F47-92BE-8D16987C2DDB}">
      <dsp:nvSpPr>
        <dsp:cNvPr id="0" name=""/>
        <dsp:cNvSpPr/>
      </dsp:nvSpPr>
      <dsp:spPr>
        <a:xfrm>
          <a:off x="0" y="4428507"/>
          <a:ext cx="5175384" cy="110695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8110" tIns="118110" rIns="118110" bIns="118110" numCol="1" spcCol="1270" anchor="t" anchorCtr="0">
          <a:noAutofit/>
        </a:bodyPr>
        <a:lstStyle/>
        <a:p>
          <a:pPr marL="0" lvl="0" indent="0" algn="l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3100" kern="1200" dirty="0"/>
            <a:t>• Demonstrate a fully working HW/SW integrated system.</a:t>
          </a:r>
        </a:p>
      </dsp:txBody>
      <dsp:txXfrm>
        <a:off x="0" y="4428507"/>
        <a:ext cx="5175384" cy="110695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5AD2E7B-BE20-6149-9C08-131C8C0C5E92}">
      <dsp:nvSpPr>
        <dsp:cNvPr id="0" name=""/>
        <dsp:cNvSpPr/>
      </dsp:nvSpPr>
      <dsp:spPr>
        <a:xfrm>
          <a:off x="0" y="391170"/>
          <a:ext cx="5175384" cy="151164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End-to-end system working demonstration</a:t>
          </a:r>
        </a:p>
      </dsp:txBody>
      <dsp:txXfrm>
        <a:off x="73792" y="464962"/>
        <a:ext cx="5027800" cy="1364056"/>
      </dsp:txXfrm>
    </dsp:sp>
    <dsp:sp modelId="{5F84FBF2-99D7-C743-B4BA-6C2A0611200B}">
      <dsp:nvSpPr>
        <dsp:cNvPr id="0" name=""/>
        <dsp:cNvSpPr/>
      </dsp:nvSpPr>
      <dsp:spPr>
        <a:xfrm>
          <a:off x="0" y="2012250"/>
          <a:ext cx="5175384" cy="1511640"/>
        </a:xfrm>
        <a:prstGeom prst="roundRec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/>
            <a:t>Synthesis / implementation reports</a:t>
          </a:r>
        </a:p>
      </dsp:txBody>
      <dsp:txXfrm>
        <a:off x="73792" y="2086042"/>
        <a:ext cx="5027800" cy="1364056"/>
      </dsp:txXfrm>
    </dsp:sp>
    <dsp:sp modelId="{47EFAFE8-6D3F-5049-83A1-FA036AE7E3AF}">
      <dsp:nvSpPr>
        <dsp:cNvPr id="0" name=""/>
        <dsp:cNvSpPr/>
      </dsp:nvSpPr>
      <dsp:spPr>
        <a:xfrm>
          <a:off x="0" y="3633330"/>
          <a:ext cx="5175384" cy="151164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44780" tIns="144780" rIns="144780" bIns="144780" numCol="1" spcCol="1270" anchor="ctr" anchorCtr="0">
          <a:noAutofit/>
        </a:bodyPr>
        <a:lstStyle/>
        <a:p>
          <a:pPr marL="0" lvl="0" indent="0" algn="l" defTabSz="1689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800" kern="1200" dirty="0">
              <a:hlinkClick xmlns:r="http://schemas.openxmlformats.org/officeDocument/2006/relationships" r:id="rId1"/>
            </a:rPr>
            <a:t>YouTube demo link</a:t>
          </a:r>
          <a:endParaRPr lang="en-US" sz="3800" kern="1200" dirty="0"/>
        </a:p>
      </dsp:txBody>
      <dsp:txXfrm>
        <a:off x="73792" y="3707122"/>
        <a:ext cx="5027800" cy="136405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artscilab.utdallas.edu/9828-2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5" Type="http://schemas.openxmlformats.org/officeDocument/2006/relationships/hyperlink" Target="mailto:DAL820508@utdalls.edu" TargetMode="External"/><Relationship Id="rId4" Type="http://schemas.openxmlformats.org/officeDocument/2006/relationships/hyperlink" Target="mailto:SKA240001@utdalls.edu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31413" y="3197568"/>
            <a:ext cx="7772400" cy="1470025"/>
          </a:xfrm>
        </p:spPr>
        <p:txBody>
          <a:bodyPr>
            <a:normAutofit/>
          </a:bodyPr>
          <a:lstStyle/>
          <a:p>
            <a:r>
              <a:rPr dirty="0"/>
              <a:t>AES-128 HW/SW Co-Design on SoC FPGA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54884" y="927667"/>
            <a:ext cx="6400800" cy="821887"/>
          </a:xfrm>
        </p:spPr>
        <p:txBody>
          <a:bodyPr>
            <a:normAutofit/>
          </a:bodyPr>
          <a:lstStyle/>
          <a:p>
            <a:r>
              <a:rPr dirty="0">
                <a:solidFill>
                  <a:schemeClr val="tx1"/>
                </a:solidFill>
              </a:rPr>
              <a:t>University of Texas at Dallas</a:t>
            </a:r>
            <a:endParaRPr lang="en-US" dirty="0">
              <a:solidFill>
                <a:schemeClr val="tx1"/>
              </a:solidFill>
            </a:endParaRPr>
          </a:p>
          <a:p>
            <a:endParaRPr dirty="0"/>
          </a:p>
          <a:p>
            <a:endParaRPr dirty="0"/>
          </a:p>
        </p:txBody>
      </p:sp>
      <p:pic>
        <p:nvPicPr>
          <p:cNvPr id="5" name="Picture 4" descr="A white logo in a circle&#10;&#10;AI-generated content may be incorrect.">
            <a:extLst>
              <a:ext uri="{FF2B5EF4-FFF2-40B4-BE49-F238E27FC236}">
                <a16:creationId xmlns:a16="http://schemas.microsoft.com/office/drawing/2014/main" id="{826A2DB7-F941-E85D-4748-D0E199E43A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631413" y="390225"/>
            <a:ext cx="1629229" cy="161542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E03D3CE-E4C4-AB11-30A1-CEEB2D68FC79}"/>
              </a:ext>
            </a:extLst>
          </p:cNvPr>
          <p:cNvSpPr txBox="1"/>
          <p:nvPr/>
        </p:nvSpPr>
        <p:spPr>
          <a:xfrm>
            <a:off x="1627519" y="2551237"/>
            <a:ext cx="60734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EEDG/CE 6370 Design and Analysis of Reconfigurable Systems</a:t>
            </a:r>
            <a:endParaRPr lang="en-US" b="1" dirty="0"/>
          </a:p>
          <a:p>
            <a:r>
              <a:rPr lang="en-US" dirty="0"/>
              <a:t> 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5A9F47A-A438-4CC6-5C24-63F1A30AF9C2}"/>
              </a:ext>
            </a:extLst>
          </p:cNvPr>
          <p:cNvSpPr txBox="1"/>
          <p:nvPr/>
        </p:nvSpPr>
        <p:spPr>
          <a:xfrm>
            <a:off x="1730321" y="4682811"/>
            <a:ext cx="604992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Supervisor: </a:t>
            </a:r>
          </a:p>
          <a:p>
            <a:pPr algn="ctr"/>
            <a:r>
              <a:rPr lang="en-US" dirty="0"/>
              <a:t>Prof. Dr. Benjamin Carrion Schaefer</a:t>
            </a:r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Submitted by:</a:t>
            </a:r>
          </a:p>
          <a:p>
            <a:r>
              <a:rPr lang="en-IN" dirty="0"/>
              <a:t>Salam Kadhim Al-Khammasi, </a:t>
            </a:r>
            <a:r>
              <a:rPr lang="en-IN" dirty="0">
                <a:hlinkClick r:id="rId4"/>
              </a:rPr>
              <a:t>SKA240001@utdalls.edu</a:t>
            </a:r>
            <a:r>
              <a:rPr lang="en-IN" dirty="0"/>
              <a:t>	</a:t>
            </a:r>
            <a:endParaRPr lang="en-US" dirty="0"/>
          </a:p>
          <a:p>
            <a:r>
              <a:rPr lang="en-US" dirty="0"/>
              <a:t>Aryan Verma, </a:t>
            </a:r>
            <a:r>
              <a:rPr lang="en-US" dirty="0">
                <a:hlinkClick r:id="rId5"/>
              </a:rPr>
              <a:t>DAL820508@utdalls.edu</a:t>
            </a:r>
            <a:r>
              <a:rPr lang="en-US" dirty="0"/>
              <a:t>	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70FCA17-5004-DD9C-BB04-F3D68C12FF87}"/>
              </a:ext>
            </a:extLst>
          </p:cNvPr>
          <p:cNvSpPr txBox="1"/>
          <p:nvPr/>
        </p:nvSpPr>
        <p:spPr>
          <a:xfrm>
            <a:off x="4035920" y="1926754"/>
            <a:ext cx="21444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FALL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IN" sz="4700"/>
              <a:t>Project Overview</a:t>
            </a:r>
          </a:p>
        </p:txBody>
      </p:sp>
      <p:sp>
        <p:nvSpPr>
          <p:cNvPr id="26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sX0" fmla="*/ 0 w 5410200"/>
              <a:gd name="csY0" fmla="*/ 0 h 13716"/>
              <a:gd name="csX1" fmla="*/ 568071 w 5410200"/>
              <a:gd name="csY1" fmla="*/ 0 h 13716"/>
              <a:gd name="csX2" fmla="*/ 1298448 w 5410200"/>
              <a:gd name="csY2" fmla="*/ 0 h 13716"/>
              <a:gd name="csX3" fmla="*/ 1920621 w 5410200"/>
              <a:gd name="csY3" fmla="*/ 0 h 13716"/>
              <a:gd name="csX4" fmla="*/ 2488692 w 5410200"/>
              <a:gd name="csY4" fmla="*/ 0 h 13716"/>
              <a:gd name="csX5" fmla="*/ 3219069 w 5410200"/>
              <a:gd name="csY5" fmla="*/ 0 h 13716"/>
              <a:gd name="csX6" fmla="*/ 3895344 w 5410200"/>
              <a:gd name="csY6" fmla="*/ 0 h 13716"/>
              <a:gd name="csX7" fmla="*/ 4571619 w 5410200"/>
              <a:gd name="csY7" fmla="*/ 0 h 13716"/>
              <a:gd name="csX8" fmla="*/ 5410200 w 5410200"/>
              <a:gd name="csY8" fmla="*/ 0 h 13716"/>
              <a:gd name="csX9" fmla="*/ 5410200 w 5410200"/>
              <a:gd name="csY9" fmla="*/ 13716 h 13716"/>
              <a:gd name="csX10" fmla="*/ 4842129 w 5410200"/>
              <a:gd name="csY10" fmla="*/ 13716 h 13716"/>
              <a:gd name="csX11" fmla="*/ 4328160 w 5410200"/>
              <a:gd name="csY11" fmla="*/ 13716 h 13716"/>
              <a:gd name="csX12" fmla="*/ 3597783 w 5410200"/>
              <a:gd name="csY12" fmla="*/ 13716 h 13716"/>
              <a:gd name="csX13" fmla="*/ 3029712 w 5410200"/>
              <a:gd name="csY13" fmla="*/ 13716 h 13716"/>
              <a:gd name="csX14" fmla="*/ 2299335 w 5410200"/>
              <a:gd name="csY14" fmla="*/ 13716 h 13716"/>
              <a:gd name="csX15" fmla="*/ 1514856 w 5410200"/>
              <a:gd name="csY15" fmla="*/ 13716 h 13716"/>
              <a:gd name="csX16" fmla="*/ 892683 w 5410200"/>
              <a:gd name="csY16" fmla="*/ 13716 h 13716"/>
              <a:gd name="csX17" fmla="*/ 0 w 5410200"/>
              <a:gd name="csY17" fmla="*/ 13716 h 13716"/>
              <a:gd name="csX18" fmla="*/ 0 w 5410200"/>
              <a:gd name="csY18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22F93B0-EEE3-22C0-52FE-DA8484E8EC0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1608125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3ECBE1F1-D69B-4AFA-ABD5-8E41720EF6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E36418-BD58-21EA-10A0-0579B4C15294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6638" r="50081"/>
          <a:stretch>
            <a:fillRect/>
          </a:stretch>
        </p:blipFill>
        <p:spPr>
          <a:xfrm>
            <a:off x="20" y="-2"/>
            <a:ext cx="4057627" cy="6858002"/>
          </a:xfrm>
          <a:prstGeom prst="rect">
            <a:avLst/>
          </a:prstGeom>
        </p:spPr>
      </p:pic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603A6265-E10C-4B85-9C20-E75FCAF9CC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7647" y="-1"/>
            <a:ext cx="5086352" cy="2286000"/>
          </a:xfrm>
          <a:prstGeom prst="rect">
            <a:avLst/>
          </a:prstGeom>
          <a:ln>
            <a:noFill/>
          </a:ln>
          <a:effectLst>
            <a:outerShdw blurRad="355600" dist="152400" sx="95000" sy="95000" algn="t" rotWithShape="0">
              <a:srgbClr val="000000">
                <a:alpha val="29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86487" y="405685"/>
            <a:ext cx="4098726" cy="1559301"/>
          </a:xfrm>
        </p:spPr>
        <p:txBody>
          <a:bodyPr>
            <a:normAutofit/>
          </a:bodyPr>
          <a:lstStyle/>
          <a:p>
            <a:r>
              <a:rPr lang="en-US" sz="350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86487" y="2743200"/>
            <a:ext cx="3935505" cy="3496878"/>
          </a:xfrm>
        </p:spPr>
        <p:txBody>
          <a:bodyPr anchor="ctr">
            <a:normAutofit/>
          </a:bodyPr>
          <a:lstStyle/>
          <a:p>
            <a:r>
              <a:rPr lang="en-IN" sz="1600"/>
              <a:t>Field Programmable Gate Arrays (FPGAs) are widely used to accelerate computationally intensive applications such as cryptography.</a:t>
            </a:r>
          </a:p>
          <a:p>
            <a:endParaRPr lang="en-IN" sz="1600"/>
          </a:p>
          <a:p>
            <a:r>
              <a:rPr lang="en-IN" sz="1600"/>
              <a:t>This project presents a complete hardware/software (HW/SW) co-design implementation of AES-128 encryption and decryption using an SoC FPGA.</a:t>
            </a:r>
          </a:p>
          <a:p>
            <a:endParaRPr lang="en-IN" sz="1600"/>
          </a:p>
          <a:p>
            <a:r>
              <a:rPr lang="en-IN" sz="1600"/>
              <a:t>The system divides tasks between the HPS processor and FPGA fabric to achieve both flexibility and performance.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9F7D5CDA-D291-4307-BF55-1381FED2963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0" y="762001"/>
            <a:ext cx="4000647" cy="1708242"/>
          </a:xfrm>
        </p:spPr>
        <p:txBody>
          <a:bodyPr anchor="ctr">
            <a:normAutofit/>
          </a:bodyPr>
          <a:lstStyle/>
          <a:p>
            <a:r>
              <a:rPr lang="en-US" sz="3500"/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0" y="2470244"/>
            <a:ext cx="4000647" cy="3769835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IN" sz="1700" dirty="0"/>
              <a:t>The system consists of THREE major components:</a:t>
            </a:r>
          </a:p>
          <a:p>
            <a:pPr marL="0" indent="0">
              <a:buNone/>
            </a:pPr>
            <a:endParaRPr lang="en-IN" sz="1700" dirty="0"/>
          </a:p>
          <a:p>
            <a:pPr marL="0" indent="0">
              <a:buNone/>
            </a:pPr>
            <a:r>
              <a:rPr lang="en-IN" sz="1700" dirty="0"/>
              <a:t>1-  HPS (Processor): Handles key generation, user input, communication, software encryption/decryption, and validation.</a:t>
            </a:r>
          </a:p>
          <a:p>
            <a:pPr marL="0" indent="0">
              <a:buNone/>
            </a:pPr>
            <a:r>
              <a:rPr lang="en-IN" sz="1700" dirty="0"/>
              <a:t>2-  FPGA Fabric: Implements AES-128 encryption accelerator.</a:t>
            </a:r>
          </a:p>
          <a:p>
            <a:pPr marL="0" indent="0">
              <a:buNone/>
            </a:pPr>
            <a:r>
              <a:rPr lang="en-IN" sz="1700" dirty="0"/>
              <a:t>3- AXI INTERFACE: Communication between HPS and FPGA is done using a memory-mapped AXI interface.</a:t>
            </a:r>
          </a:p>
        </p:txBody>
      </p:sp>
      <p:pic>
        <p:nvPicPr>
          <p:cNvPr id="5" name="Picture 4" descr="An electronic circuit board in blue colour">
            <a:extLst>
              <a:ext uri="{FF2B5EF4-FFF2-40B4-BE49-F238E27FC236}">
                <a16:creationId xmlns:a16="http://schemas.microsoft.com/office/drawing/2014/main" id="{6582A7F4-D18B-5121-8386-8FDB22567C8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2622" r="48501" b="-1"/>
          <a:stretch>
            <a:fillRect/>
          </a:stretch>
        </p:blipFill>
        <p:spPr>
          <a:xfrm>
            <a:off x="5143347" y="-10886"/>
            <a:ext cx="4000653" cy="6868886"/>
          </a:xfrm>
          <a:prstGeom prst="rect">
            <a:avLst/>
          </a:prstGeom>
          <a:effectLst>
            <a:outerShdw blurRad="127000" dist="50800" dir="10800000" sx="99000" sy="99000" algn="r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-5705"/>
            <a:ext cx="9143993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638" y="637762"/>
            <a:ext cx="7416372" cy="900131"/>
          </a:xfrm>
        </p:spPr>
        <p:txBody>
          <a:bodyPr anchor="t">
            <a:normAutofit/>
          </a:bodyPr>
          <a:lstStyle/>
          <a:p>
            <a:pPr algn="l"/>
            <a:r>
              <a:rPr lang="en-IN" sz="3500" dirty="0">
                <a:solidFill>
                  <a:schemeClr val="bg1"/>
                </a:solidFill>
              </a:rPr>
              <a:t>HPS: Plaintext Input and Key Generating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9143992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638" y="2010758"/>
            <a:ext cx="34289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661" y="2217343"/>
            <a:ext cx="2856253" cy="3959619"/>
          </a:xfrm>
        </p:spPr>
        <p:txBody>
          <a:bodyPr>
            <a:normAutofit lnSpcReduction="10000"/>
          </a:bodyPr>
          <a:lstStyle/>
          <a:p>
            <a:r>
              <a:rPr lang="en-IN" sz="2100" dirty="0"/>
              <a:t>The user enters plaintext through the terminal using </a:t>
            </a:r>
            <a:r>
              <a:rPr lang="en-IN" sz="2100" dirty="0" err="1"/>
              <a:t>scanf</a:t>
            </a:r>
            <a:r>
              <a:rPr lang="en-IN" sz="2100" dirty="0"/>
              <a:t>().</a:t>
            </a:r>
          </a:p>
          <a:p>
            <a:r>
              <a:rPr lang="en-IN" sz="2100" dirty="0"/>
              <a:t>Up to 16 ASCII characters are accepted. Key is generated inside the HPS </a:t>
            </a:r>
          </a:p>
          <a:p>
            <a:r>
              <a:rPr lang="en-IN" sz="2100" dirty="0"/>
              <a:t>Decrypt the Cipher text and return the same plain text .</a:t>
            </a:r>
          </a:p>
        </p:txBody>
      </p:sp>
      <p:pic>
        <p:nvPicPr>
          <p:cNvPr id="5" name="Picture 4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6C4A3F2D-8B65-EA37-7051-A1E94A87185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1148" y="1931276"/>
            <a:ext cx="4561096" cy="3461257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40ED300-1A22-4AC9-ACFE-C42105B84CFC}"/>
              </a:ext>
            </a:extLst>
          </p:cNvPr>
          <p:cNvSpPr/>
          <p:nvPr/>
        </p:nvSpPr>
        <p:spPr>
          <a:xfrm>
            <a:off x="4300764" y="4329974"/>
            <a:ext cx="2512384" cy="302351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145D547-1299-DA26-35BC-E4B11C9AB9ED}"/>
              </a:ext>
            </a:extLst>
          </p:cNvPr>
          <p:cNvCxnSpPr>
            <a:cxnSpLocks/>
          </p:cNvCxnSpPr>
          <p:nvPr/>
        </p:nvCxnSpPr>
        <p:spPr>
          <a:xfrm>
            <a:off x="3397250" y="2991540"/>
            <a:ext cx="923898" cy="143123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1" name="Rectangle 10">
            <a:extLst>
              <a:ext uri="{FF2B5EF4-FFF2-40B4-BE49-F238E27FC236}">
                <a16:creationId xmlns:a16="http://schemas.microsoft.com/office/drawing/2014/main" id="{D5CB9333-7D2E-43D8-56A3-240500A23A24}"/>
              </a:ext>
            </a:extLst>
          </p:cNvPr>
          <p:cNvSpPr/>
          <p:nvPr/>
        </p:nvSpPr>
        <p:spPr>
          <a:xfrm>
            <a:off x="4303488" y="4661825"/>
            <a:ext cx="2512384" cy="398857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ADBEEB8-D013-A4A1-6DC2-4CBA1C4DA2C0}"/>
              </a:ext>
            </a:extLst>
          </p:cNvPr>
          <p:cNvCxnSpPr>
            <a:cxnSpLocks/>
            <a:endCxn id="11" idx="1"/>
          </p:cNvCxnSpPr>
          <p:nvPr/>
        </p:nvCxnSpPr>
        <p:spPr>
          <a:xfrm>
            <a:off x="3321290" y="3892550"/>
            <a:ext cx="982198" cy="96870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CE5D711B-1FD5-5F8C-5D8B-0902F6C4C8C5}"/>
              </a:ext>
            </a:extLst>
          </p:cNvPr>
          <p:cNvSpPr/>
          <p:nvPr/>
        </p:nvSpPr>
        <p:spPr>
          <a:xfrm>
            <a:off x="4321140" y="5060682"/>
            <a:ext cx="2512384" cy="398857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17924941-28B0-40B7-A0B0-F63F6A11CE4B}"/>
              </a:ext>
            </a:extLst>
          </p:cNvPr>
          <p:cNvCxnSpPr>
            <a:cxnSpLocks/>
          </p:cNvCxnSpPr>
          <p:nvPr/>
        </p:nvCxnSpPr>
        <p:spPr>
          <a:xfrm>
            <a:off x="3321290" y="4652297"/>
            <a:ext cx="979474" cy="6078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-5705"/>
            <a:ext cx="9143993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638" y="637762"/>
            <a:ext cx="7416372" cy="900131"/>
          </a:xfrm>
        </p:spPr>
        <p:txBody>
          <a:bodyPr anchor="t">
            <a:normAutofit/>
          </a:bodyPr>
          <a:lstStyle/>
          <a:p>
            <a:pPr algn="l"/>
            <a:r>
              <a:rPr lang="en-IN" sz="3500" dirty="0">
                <a:solidFill>
                  <a:schemeClr val="bg1"/>
                </a:solidFill>
              </a:rPr>
              <a:t>HPS–FPGA : MEMORY – MAPPED AXI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9143992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638" y="2010758"/>
            <a:ext cx="34289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862" y="2181360"/>
            <a:ext cx="2975995" cy="3959619"/>
          </a:xfrm>
        </p:spPr>
        <p:txBody>
          <a:bodyPr>
            <a:normAutofit/>
          </a:bodyPr>
          <a:lstStyle/>
          <a:p>
            <a:r>
              <a:rPr lang="en-IN" sz="2100" dirty="0"/>
              <a:t>HPS sends the 128-bit encryption key and plaintext to the FPGA.</a:t>
            </a:r>
          </a:p>
          <a:p>
            <a:r>
              <a:rPr lang="en-IN" sz="2100" dirty="0"/>
              <a:t>Communication is performed using memory-mapped AXI registers.</a:t>
            </a:r>
          </a:p>
          <a:p>
            <a:r>
              <a:rPr lang="en-IN" sz="2100" dirty="0"/>
              <a:t>Control signals ensure proper synchronization.</a:t>
            </a:r>
          </a:p>
          <a:p>
            <a:endParaRPr lang="en-IN" sz="2100" dirty="0"/>
          </a:p>
        </p:txBody>
      </p:sp>
      <p:pic>
        <p:nvPicPr>
          <p:cNvPr id="5" name="Picture 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B23DA57-E3CC-BC7B-C1C6-1DBB822611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2657" y="1991664"/>
            <a:ext cx="3307444" cy="2208656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3439485-FF24-6D43-70C0-81980178203B}"/>
              </a:ext>
            </a:extLst>
          </p:cNvPr>
          <p:cNvSpPr/>
          <p:nvPr/>
        </p:nvSpPr>
        <p:spPr>
          <a:xfrm>
            <a:off x="3842656" y="1981334"/>
            <a:ext cx="2564493" cy="65391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A009AEB-D392-DA15-DF92-3E9AB4E7FD09}"/>
              </a:ext>
            </a:extLst>
          </p:cNvPr>
          <p:cNvSpPr/>
          <p:nvPr/>
        </p:nvSpPr>
        <p:spPr>
          <a:xfrm>
            <a:off x="6626373" y="2059418"/>
            <a:ext cx="853927" cy="36629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accent2"/>
                </a:solidFill>
              </a:rPr>
              <a:t>Master AXI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0F88B76-8C2F-599B-E472-664E70AE8DAF}"/>
              </a:ext>
            </a:extLst>
          </p:cNvPr>
          <p:cNvSpPr/>
          <p:nvPr/>
        </p:nvSpPr>
        <p:spPr>
          <a:xfrm>
            <a:off x="3893456" y="3532788"/>
            <a:ext cx="2564493" cy="65391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96857671-C433-0894-8776-45575612CE5B}"/>
              </a:ext>
            </a:extLst>
          </p:cNvPr>
          <p:cNvSpPr/>
          <p:nvPr/>
        </p:nvSpPr>
        <p:spPr>
          <a:xfrm>
            <a:off x="6626373" y="3660162"/>
            <a:ext cx="733277" cy="36629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accent2"/>
                </a:solidFill>
              </a:rPr>
              <a:t>Slave AXI</a:t>
            </a:r>
          </a:p>
        </p:txBody>
      </p:sp>
      <p:pic>
        <p:nvPicPr>
          <p:cNvPr id="14" name="Picture 13" descr="A diagram of a computer&#10;&#10;AI-generated content may be incorrect.">
            <a:extLst>
              <a:ext uri="{FF2B5EF4-FFF2-40B4-BE49-F238E27FC236}">
                <a16:creationId xmlns:a16="http://schemas.microsoft.com/office/drawing/2014/main" id="{D978DB8E-076F-E497-FAEC-3CB92EEB5A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996" y="4345713"/>
            <a:ext cx="3599517" cy="2607127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BEBE717D-E02F-3518-94EF-9BDD9DF0653A}"/>
              </a:ext>
            </a:extLst>
          </p:cNvPr>
          <p:cNvSpPr/>
          <p:nvPr/>
        </p:nvSpPr>
        <p:spPr>
          <a:xfrm>
            <a:off x="6775449" y="4345713"/>
            <a:ext cx="190501" cy="2016987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FDC57E5E-330E-302A-02A4-E4B7878C64B4}"/>
              </a:ext>
            </a:extLst>
          </p:cNvPr>
          <p:cNvSpPr/>
          <p:nvPr/>
        </p:nvSpPr>
        <p:spPr>
          <a:xfrm>
            <a:off x="7053336" y="4387951"/>
            <a:ext cx="853927" cy="36629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accent2"/>
                </a:solidFill>
              </a:rPr>
              <a:t>AXI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9BA50D32-640E-1266-C558-8D2A77DBD1AD}"/>
              </a:ext>
            </a:extLst>
          </p:cNvPr>
          <p:cNvSpPr/>
          <p:nvPr/>
        </p:nvSpPr>
        <p:spPr>
          <a:xfrm>
            <a:off x="5578472" y="5649276"/>
            <a:ext cx="190501" cy="713424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A5AD234-1559-9B18-DE0C-40D2B9C1AAF8}"/>
              </a:ext>
            </a:extLst>
          </p:cNvPr>
          <p:cNvSpPr/>
          <p:nvPr/>
        </p:nvSpPr>
        <p:spPr>
          <a:xfrm>
            <a:off x="4637159" y="5774687"/>
            <a:ext cx="853927" cy="36629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accent2"/>
                </a:solidFill>
              </a:rPr>
              <a:t>AES - FPGA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6DBC9959-8900-C410-F500-F90ECA135F30}"/>
              </a:ext>
            </a:extLst>
          </p:cNvPr>
          <p:cNvSpPr/>
          <p:nvPr/>
        </p:nvSpPr>
        <p:spPr>
          <a:xfrm>
            <a:off x="2533651" y="6460237"/>
            <a:ext cx="1735970" cy="221425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accent2"/>
                </a:solidFill>
              </a:rPr>
              <a:t>Data from HPS to FPGA </a:t>
            </a:r>
          </a:p>
        </p:txBody>
      </p: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C0EE9F85-F883-D64E-F2CB-F5FCA3D7E666}"/>
              </a:ext>
            </a:extLst>
          </p:cNvPr>
          <p:cNvCxnSpPr>
            <a:cxnSpLocks/>
            <a:stCxn id="21" idx="3"/>
          </p:cNvCxnSpPr>
          <p:nvPr/>
        </p:nvCxnSpPr>
        <p:spPr>
          <a:xfrm>
            <a:off x="4269621" y="6570950"/>
            <a:ext cx="1385957" cy="49685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4" name="Rectangle 23">
            <a:extLst>
              <a:ext uri="{FF2B5EF4-FFF2-40B4-BE49-F238E27FC236}">
                <a16:creationId xmlns:a16="http://schemas.microsoft.com/office/drawing/2014/main" id="{6565243F-4F2C-EB69-AC14-19B93F5DF851}"/>
              </a:ext>
            </a:extLst>
          </p:cNvPr>
          <p:cNvSpPr/>
          <p:nvPr/>
        </p:nvSpPr>
        <p:spPr>
          <a:xfrm>
            <a:off x="3609666" y="4587751"/>
            <a:ext cx="2026858" cy="299158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accent2"/>
                </a:solidFill>
              </a:rPr>
              <a:t>Output data from FPGA to HPS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45AF2E23-EEE5-2656-0377-2F26F9819FFE}"/>
              </a:ext>
            </a:extLst>
          </p:cNvPr>
          <p:cNvCxnSpPr>
            <a:cxnSpLocks/>
          </p:cNvCxnSpPr>
          <p:nvPr/>
        </p:nvCxnSpPr>
        <p:spPr>
          <a:xfrm>
            <a:off x="5578472" y="4883967"/>
            <a:ext cx="875616" cy="105588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-5705"/>
            <a:ext cx="9143993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7638" y="637762"/>
            <a:ext cx="7416372" cy="900131"/>
          </a:xfrm>
        </p:spPr>
        <p:txBody>
          <a:bodyPr anchor="t">
            <a:normAutofit/>
          </a:bodyPr>
          <a:lstStyle/>
          <a:p>
            <a:pPr algn="l"/>
            <a:r>
              <a:rPr lang="en-IN" sz="3500" dirty="0">
                <a:solidFill>
                  <a:schemeClr val="bg1"/>
                </a:solidFill>
              </a:rPr>
              <a:t>FPGA: AES-128 Encryption Module only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9143992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638" y="2010758"/>
            <a:ext cx="34289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6662" y="2217343"/>
            <a:ext cx="2910682" cy="3959619"/>
          </a:xfrm>
        </p:spPr>
        <p:txBody>
          <a:bodyPr>
            <a:normAutofit fontScale="92500" lnSpcReduction="10000"/>
          </a:bodyPr>
          <a:lstStyle/>
          <a:p>
            <a:r>
              <a:rPr lang="en-IN" sz="2100" dirty="0"/>
              <a:t>FPGA receives the plaintext and encryption key from HPS.</a:t>
            </a:r>
          </a:p>
          <a:p>
            <a:r>
              <a:rPr lang="en-IN" sz="2100" dirty="0"/>
              <a:t>AES-128 encryption is implemented using RTL or HLS.</a:t>
            </a:r>
          </a:p>
          <a:p>
            <a:r>
              <a:rPr lang="en-IN" sz="2100" dirty="0"/>
              <a:t>FPGA performs encryption only (no decryption).</a:t>
            </a:r>
          </a:p>
          <a:p>
            <a:r>
              <a:rPr lang="en-IN" sz="2100" dirty="0"/>
              <a:t>The encrypted ciphertext is sent back to the HPS.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A42915B-603C-21EC-C085-9AF54CEB60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01247" y="3924597"/>
            <a:ext cx="4318841" cy="423303"/>
          </a:xfrm>
          <a:prstGeom prst="rect">
            <a:avLst/>
          </a:prstGeom>
        </p:spPr>
      </p:pic>
      <p:pic>
        <p:nvPicPr>
          <p:cNvPr id="13" name="Picture 1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1F5DF0D9-D480-5025-87DF-5C76A8AA218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13381" y="4418033"/>
            <a:ext cx="3894574" cy="1258853"/>
          </a:xfrm>
          <a:prstGeom prst="rect">
            <a:avLst/>
          </a:prstGeom>
        </p:spPr>
      </p:pic>
      <p:pic>
        <p:nvPicPr>
          <p:cNvPr id="15" name="Picture 1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4EEB162-0768-F97D-DEEB-D36C3627E3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49192" y="5919732"/>
            <a:ext cx="6465319" cy="815956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2876F476-B3F1-C1DF-1E2E-51BFC495DB65}"/>
              </a:ext>
            </a:extLst>
          </p:cNvPr>
          <p:cNvSpPr/>
          <p:nvPr/>
        </p:nvSpPr>
        <p:spPr>
          <a:xfrm>
            <a:off x="4472381" y="5484559"/>
            <a:ext cx="3976574" cy="192327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B3DEA07-66B7-158C-2EFD-7A198340971E}"/>
              </a:ext>
            </a:extLst>
          </p:cNvPr>
          <p:cNvSpPr/>
          <p:nvPr/>
        </p:nvSpPr>
        <p:spPr>
          <a:xfrm>
            <a:off x="4301239" y="3940383"/>
            <a:ext cx="4203425" cy="302351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7396DD0-D96A-AC76-09B8-F9EE7D712AE3}"/>
              </a:ext>
            </a:extLst>
          </p:cNvPr>
          <p:cNvSpPr/>
          <p:nvPr/>
        </p:nvSpPr>
        <p:spPr>
          <a:xfrm>
            <a:off x="4472381" y="4418033"/>
            <a:ext cx="4032283" cy="172713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CBACF02-1AC1-C267-4A79-7DA13CA1EF65}"/>
              </a:ext>
            </a:extLst>
          </p:cNvPr>
          <p:cNvSpPr/>
          <p:nvPr/>
        </p:nvSpPr>
        <p:spPr>
          <a:xfrm>
            <a:off x="2268764" y="6162578"/>
            <a:ext cx="2512384" cy="573110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21" name="Table 20">
            <a:extLst>
              <a:ext uri="{FF2B5EF4-FFF2-40B4-BE49-F238E27FC236}">
                <a16:creationId xmlns:a16="http://schemas.microsoft.com/office/drawing/2014/main" id="{D2392534-3EF9-1DBD-12C8-720905F49A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98218637"/>
              </p:ext>
            </p:extLst>
          </p:nvPr>
        </p:nvGraphicFramePr>
        <p:xfrm>
          <a:off x="5105400" y="1884326"/>
          <a:ext cx="2910681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6858">
                  <a:extLst>
                    <a:ext uri="{9D8B030D-6E8A-4147-A177-3AD203B41FA5}">
                      <a16:colId xmlns:a16="http://schemas.microsoft.com/office/drawing/2014/main" val="2046544156"/>
                    </a:ext>
                  </a:extLst>
                </a:gridCol>
                <a:gridCol w="1793823">
                  <a:extLst>
                    <a:ext uri="{9D8B030D-6E8A-4147-A177-3AD203B41FA5}">
                      <a16:colId xmlns:a16="http://schemas.microsoft.com/office/drawing/2014/main" val="3627387664"/>
                    </a:ext>
                  </a:extLst>
                </a:gridCol>
              </a:tblGrid>
              <a:tr h="361968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8969187"/>
                  </a:ext>
                </a:extLst>
              </a:tr>
              <a:tr h="361968">
                <a:tc>
                  <a:txBody>
                    <a:bodyPr/>
                    <a:lstStyle/>
                    <a:p>
                      <a:r>
                        <a:rPr lang="en-US" dirty="0"/>
                        <a:t>ALMs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15701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76337217"/>
                  </a:ext>
                </a:extLst>
              </a:tr>
              <a:tr h="361968">
                <a:tc>
                  <a:txBody>
                    <a:bodyPr/>
                    <a:lstStyle/>
                    <a:p>
                      <a:r>
                        <a:rPr lang="en-US" dirty="0"/>
                        <a:t>Registers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8400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1811688"/>
                  </a:ext>
                </a:extLst>
              </a:tr>
              <a:tr h="361968">
                <a:tc>
                  <a:txBody>
                    <a:bodyPr/>
                    <a:lstStyle/>
                    <a:p>
                      <a:r>
                        <a:rPr lang="en-US" dirty="0"/>
                        <a:t>I/O pins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368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7881701"/>
                  </a:ext>
                </a:extLst>
              </a:tr>
              <a:tr h="361968">
                <a:tc>
                  <a:txBody>
                    <a:bodyPr/>
                    <a:lstStyle/>
                    <a:p>
                      <a:r>
                        <a:rPr lang="en-US" dirty="0"/>
                        <a:t>FMAX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24.64 MHZ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153381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83EAA96-C727-0ADD-C509-66DA05417A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" y="-5705"/>
            <a:ext cx="9143993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17D2EE-3230-4613-7670-28D897D896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3188" y="436280"/>
            <a:ext cx="7965212" cy="900131"/>
          </a:xfrm>
        </p:spPr>
        <p:txBody>
          <a:bodyPr anchor="t">
            <a:normAutofit fontScale="90000"/>
          </a:bodyPr>
          <a:lstStyle/>
          <a:p>
            <a:r>
              <a:rPr lang="en-IN" sz="3200" dirty="0">
                <a:solidFill>
                  <a:schemeClr val="bg1"/>
                </a:solidFill>
              </a:rPr>
              <a:t>Results: HW/SW integrated system</a:t>
            </a:r>
            <a:br>
              <a:rPr lang="en-US" sz="3200" dirty="0">
                <a:solidFill>
                  <a:schemeClr val="bg1"/>
                </a:solidFill>
              </a:rPr>
            </a:br>
            <a:endParaRPr lang="en-IN" sz="3200" dirty="0">
              <a:solidFill>
                <a:schemeClr val="bg1"/>
              </a:solidFill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9143992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7638" y="2010758"/>
            <a:ext cx="342892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FDB97D-3CFE-53EC-F019-5A99EDF2B80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7062" y="2260619"/>
            <a:ext cx="2747396" cy="3959619"/>
          </a:xfrm>
        </p:spPr>
        <p:txBody>
          <a:bodyPr>
            <a:normAutofit/>
          </a:bodyPr>
          <a:lstStyle/>
          <a:p>
            <a:r>
              <a:rPr lang="en-IN" sz="2100" dirty="0"/>
              <a:t>HPS receives ciphertext generated by the FPGA.</a:t>
            </a:r>
          </a:p>
          <a:p>
            <a:r>
              <a:rPr lang="en-IN" sz="2100" dirty="0"/>
              <a:t>Software AES decrypts the ciphertext using the same key.</a:t>
            </a:r>
          </a:p>
          <a:p>
            <a:r>
              <a:rPr lang="en-IN" sz="2100" dirty="0"/>
              <a:t>Decrypted plaintext is compared with original input.</a:t>
            </a:r>
          </a:p>
          <a:p>
            <a:endParaRPr lang="en-IN" sz="2100" dirty="0"/>
          </a:p>
        </p:txBody>
      </p:sp>
      <p:pic>
        <p:nvPicPr>
          <p:cNvPr id="24" name="Picture 2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DE80EEAE-8307-44C0-CECD-3FDF347446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17737" y="1752141"/>
            <a:ext cx="5869201" cy="4669420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CFF80366-9163-92B5-CAF3-3B02561154FF}"/>
              </a:ext>
            </a:extLst>
          </p:cNvPr>
          <p:cNvSpPr/>
          <p:nvPr/>
        </p:nvSpPr>
        <p:spPr>
          <a:xfrm>
            <a:off x="7054850" y="3170013"/>
            <a:ext cx="1622420" cy="36629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accent2"/>
                </a:solidFill>
              </a:rPr>
              <a:t>16 ASCII Characters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7EAAD90E-938F-01A4-7555-28B0DA1695A8}"/>
              </a:ext>
            </a:extLst>
          </p:cNvPr>
          <p:cNvCxnSpPr>
            <a:cxnSpLocks/>
          </p:cNvCxnSpPr>
          <p:nvPr/>
        </p:nvCxnSpPr>
        <p:spPr>
          <a:xfrm flipV="1">
            <a:off x="6203950" y="3374559"/>
            <a:ext cx="806450" cy="189968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27" name="Right Brace 26">
            <a:extLst>
              <a:ext uri="{FF2B5EF4-FFF2-40B4-BE49-F238E27FC236}">
                <a16:creationId xmlns:a16="http://schemas.microsoft.com/office/drawing/2014/main" id="{F4225D90-B411-54F3-4981-A50BFB19EEF5}"/>
              </a:ext>
            </a:extLst>
          </p:cNvPr>
          <p:cNvSpPr/>
          <p:nvPr/>
        </p:nvSpPr>
        <p:spPr>
          <a:xfrm>
            <a:off x="6061918" y="3802660"/>
            <a:ext cx="558800" cy="666750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ight Brace 27">
            <a:extLst>
              <a:ext uri="{FF2B5EF4-FFF2-40B4-BE49-F238E27FC236}">
                <a16:creationId xmlns:a16="http://schemas.microsoft.com/office/drawing/2014/main" id="{8C0BCB2A-8FD2-E071-5D8B-721399700C71}"/>
              </a:ext>
            </a:extLst>
          </p:cNvPr>
          <p:cNvSpPr/>
          <p:nvPr/>
        </p:nvSpPr>
        <p:spPr>
          <a:xfrm>
            <a:off x="6359867" y="5029284"/>
            <a:ext cx="558800" cy="666750"/>
          </a:xfrm>
          <a:prstGeom prst="rightBrac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3EAA6F7E-283D-8F7E-16AA-2FD27B39D7E2}"/>
              </a:ext>
            </a:extLst>
          </p:cNvPr>
          <p:cNvSpPr/>
          <p:nvPr/>
        </p:nvSpPr>
        <p:spPr>
          <a:xfrm>
            <a:off x="6737774" y="4000966"/>
            <a:ext cx="1253977" cy="36629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accent2"/>
                </a:solidFill>
              </a:rPr>
              <a:t>HPS – AXI - FPGA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79D09DCE-C234-8C6E-A8D2-D6C831CEC023}"/>
              </a:ext>
            </a:extLst>
          </p:cNvPr>
          <p:cNvSpPr/>
          <p:nvPr/>
        </p:nvSpPr>
        <p:spPr>
          <a:xfrm>
            <a:off x="7054850" y="5169359"/>
            <a:ext cx="1573899" cy="366292"/>
          </a:xfrm>
          <a:prstGeom prst="rect">
            <a:avLst/>
          </a:prstGeom>
          <a:noFill/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>
                <a:solidFill>
                  <a:schemeClr val="accent2"/>
                </a:solidFill>
              </a:rPr>
              <a:t>Validation after decrypt the original plaintext </a:t>
            </a:r>
          </a:p>
        </p:txBody>
      </p:sp>
    </p:spTree>
    <p:extLst>
      <p:ext uri="{BB962C8B-B14F-4D97-AF65-F5344CB8AC3E}">
        <p14:creationId xmlns:p14="http://schemas.microsoft.com/office/powerpoint/2010/main" val="28529993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IN" sz="2600" dirty="0"/>
              <a:t>Demo &amp; Implementation Evidence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sX0" fmla="*/ 0 w 5410200"/>
              <a:gd name="csY0" fmla="*/ 0 h 13716"/>
              <a:gd name="csX1" fmla="*/ 568071 w 5410200"/>
              <a:gd name="csY1" fmla="*/ 0 h 13716"/>
              <a:gd name="csX2" fmla="*/ 1298448 w 5410200"/>
              <a:gd name="csY2" fmla="*/ 0 h 13716"/>
              <a:gd name="csX3" fmla="*/ 1920621 w 5410200"/>
              <a:gd name="csY3" fmla="*/ 0 h 13716"/>
              <a:gd name="csX4" fmla="*/ 2488692 w 5410200"/>
              <a:gd name="csY4" fmla="*/ 0 h 13716"/>
              <a:gd name="csX5" fmla="*/ 3219069 w 5410200"/>
              <a:gd name="csY5" fmla="*/ 0 h 13716"/>
              <a:gd name="csX6" fmla="*/ 3895344 w 5410200"/>
              <a:gd name="csY6" fmla="*/ 0 h 13716"/>
              <a:gd name="csX7" fmla="*/ 4571619 w 5410200"/>
              <a:gd name="csY7" fmla="*/ 0 h 13716"/>
              <a:gd name="csX8" fmla="*/ 5410200 w 5410200"/>
              <a:gd name="csY8" fmla="*/ 0 h 13716"/>
              <a:gd name="csX9" fmla="*/ 5410200 w 5410200"/>
              <a:gd name="csY9" fmla="*/ 13716 h 13716"/>
              <a:gd name="csX10" fmla="*/ 4842129 w 5410200"/>
              <a:gd name="csY10" fmla="*/ 13716 h 13716"/>
              <a:gd name="csX11" fmla="*/ 4328160 w 5410200"/>
              <a:gd name="csY11" fmla="*/ 13716 h 13716"/>
              <a:gd name="csX12" fmla="*/ 3597783 w 5410200"/>
              <a:gd name="csY12" fmla="*/ 13716 h 13716"/>
              <a:gd name="csX13" fmla="*/ 3029712 w 5410200"/>
              <a:gd name="csY13" fmla="*/ 13716 h 13716"/>
              <a:gd name="csX14" fmla="*/ 2299335 w 5410200"/>
              <a:gd name="csY14" fmla="*/ 13716 h 13716"/>
              <a:gd name="csX15" fmla="*/ 1514856 w 5410200"/>
              <a:gd name="csY15" fmla="*/ 13716 h 13716"/>
              <a:gd name="csX16" fmla="*/ 892683 w 5410200"/>
              <a:gd name="csY16" fmla="*/ 13716 h 13716"/>
              <a:gd name="csX17" fmla="*/ 0 w 5410200"/>
              <a:gd name="csY17" fmla="*/ 13716 h 13716"/>
              <a:gd name="csX18" fmla="*/ 0 w 5410200"/>
              <a:gd name="csY18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14676D9-C5EB-A73F-ED7B-75A1184D4D0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46512056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274</TotalTime>
  <Words>430</Words>
  <Application>Microsoft Office PowerPoint</Application>
  <PresentationFormat>On-screen Show (4:3)</PresentationFormat>
  <Paragraphs>68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AES-128 HW/SW Co-Design on SoC FPGA</vt:lpstr>
      <vt:lpstr>Project Overview</vt:lpstr>
      <vt:lpstr>INTRODUCTION</vt:lpstr>
      <vt:lpstr>System Architecture</vt:lpstr>
      <vt:lpstr>HPS: Plaintext Input and Key Generating</vt:lpstr>
      <vt:lpstr>HPS–FPGA : MEMORY – MAPPED AXI</vt:lpstr>
      <vt:lpstr>FPGA: AES-128 Encryption Module only</vt:lpstr>
      <vt:lpstr>Results: HW/SW integrated system </vt:lpstr>
      <vt:lpstr>Demo &amp; Implementation Evidence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Al-Khammasi, Salam Kadhim</cp:lastModifiedBy>
  <cp:revision>8</cp:revision>
  <dcterms:created xsi:type="dcterms:W3CDTF">2013-01-27T09:14:16Z</dcterms:created>
  <dcterms:modified xsi:type="dcterms:W3CDTF">2025-12-16T03:30:34Z</dcterms:modified>
  <cp:category/>
</cp:coreProperties>
</file>